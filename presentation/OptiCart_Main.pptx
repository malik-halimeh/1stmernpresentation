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4600" b="1">
                <a:solidFill>
                  <a:srgbClr val="F8FAFC"/>
                </a:solidFill>
                <a:latin typeface="Segoe UI"/>
              </a:rPr>
              <a:t>OptiCart Appliances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87168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FB923C"/>
                </a:solidFill>
                <a:latin typeface="Segoe UI"/>
              </a:rPr>
              <a:t>A full-stack MERN e-commerce platform — storefront + role-scoped back office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1069848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700" b="1">
                <a:solidFill>
                  <a:srgbClr val="2DD4BF"/>
                </a:solidFill>
                <a:latin typeface="Segoe UI"/>
              </a:rPr>
              <a:t>Haya  ·  Frontend  (React / Vite / TypeScript)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700" b="1">
                <a:solidFill>
                  <a:srgbClr val="FB923C"/>
                </a:solidFill>
                <a:latin typeface="Segoe UI"/>
              </a:rPr>
              <a:t>Malik  ·  Backend &amp; Architecture  (Express / TypeScript)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700" b="1">
                <a:solidFill>
                  <a:srgbClr val="A78BFA"/>
                </a:solidFill>
                <a:latin typeface="Segoe UI"/>
              </a:rPr>
              <a:t>Mahmod  ·  Database  (MongoDB / Mongoose)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Get the money and the stock right — every time.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The Idea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Buying an appliance online is a trust exercise: accurate stock, a safe checkout, promises kept after the sale.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So we built both sides of one system — a storefront to shop and a back office to run the business.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Three roles: customer, inventory manager, super admin.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North star: get the money and the stock exactly right, every single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F8FAFC"/>
                </a:solidFill>
                <a:latin typeface="Segoe UI"/>
              </a:rPr>
              <a:t>Agenda + What's Different About Us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Planning — requirements, data design, architecture.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Live demo — each of us presents the part we built.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Watch for our stand-out features: product views, a search bar on every admin page, exportable audit logs, and recommendations.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What we learned — and what we'd still improve.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Future feature — the Smart Energy Advisor. Q&amp;A any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Planning — Requirements &amp; Roles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A78BFA"/>
                </a:solidFill>
                <a:latin typeface="Segoe UI"/>
              </a:rPr>
              <a:t>Mahmod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521208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682495"/>
            <a:ext cx="4846320" cy="1920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Functional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Browse · search · filter · guest cart &amp; wishlist · checkout · orders · verified reviews. Admin: products, categories, orders, coupons, low-stock, procurement, users, analytics, audit.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554480"/>
            <a:ext cx="521208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82495"/>
            <a:ext cx="4846320" cy="1920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Non-functional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Security (token auth + RBAC) · correctness under load (no overselling, cents money) · responsiveness (mobile) · maintainability (typed end to end).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023360"/>
            <a:ext cx="10881360" cy="173736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60520"/>
            <a:ext cx="10424160" cy="1554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F8FAFC"/>
                </a:solidFill>
                <a:latin typeface="Segoe UI"/>
              </a:rPr>
              <a:t>Roles are supersets, enforced on the server: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FB923C"/>
                </a:solidFill>
                <a:latin typeface="Segoe UI"/>
              </a:rPr>
              <a:t>customer  ⊂  inventory_manager  ⊂  super_admin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authenticate → req.user, then authorize(...roles) gates each route (middleware/auth.ts).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Planning — Design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2DD4BF"/>
                </a:solidFill>
                <a:latin typeface="Segoe UI"/>
              </a:rPr>
              <a:t>Haya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One visual language: a Tailwind token system (colors, spacing, type) defined once, consumed everywhere.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That's why storefront and admin feel like the same product.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Core flows sketched first: product list + filters, detail + variant picker, cart → checkout.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The rule: never a frozen screen — every load has a skeleton, every action has feedback.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Planning — Database Design (ERD)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A78BFA"/>
                </a:solidFill>
                <a:latin typeface="Segoe UI"/>
              </a:rPr>
              <a:t>Mahmod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1508760"/>
            <a:ext cx="2468880" cy="658368"/>
          </a:xfrm>
          <a:prstGeom prst="roundRect">
            <a:avLst/>
          </a:prstGeom>
          <a:solidFill>
            <a:srgbClr val="2A1408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8FAFC"/>
                </a:solidFill>
                <a:latin typeface="Segoe UI"/>
              </a:rPr>
              <a:t>USER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4160520"/>
            <a:ext cx="2468880" cy="658368"/>
          </a:xfrm>
          <a:prstGeom prst="roundRect">
            <a:avLst/>
          </a:prstGeom>
          <a:solidFill>
            <a:srgbClr val="1A122E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8FAFC"/>
                </a:solidFill>
                <a:latin typeface="Segoe UI"/>
              </a:rPr>
              <a:t>PRODUCT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2468880" cy="50292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F8FAFC"/>
                </a:solidFill>
                <a:latin typeface="Segoe UI"/>
              </a:rPr>
              <a:t>ORDER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3108960" y="1828800"/>
            <a:ext cx="1737360" cy="155448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0080" y="1005840"/>
            <a:ext cx="2468880" cy="50292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F8FAFC"/>
                </a:solidFill>
                <a:latin typeface="Segoe UI"/>
              </a:rPr>
              <a:t>CART / WISHLIST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08960" y="1252728"/>
            <a:ext cx="1737360" cy="576072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" y="2834640"/>
            <a:ext cx="2468880" cy="50292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F8FAFC"/>
                </a:solidFill>
                <a:latin typeface="Segoe UI"/>
              </a:rPr>
              <a:t>REVIEW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3108960" y="1828800"/>
            <a:ext cx="1737360" cy="1252728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052560" y="1554480"/>
            <a:ext cx="2468880" cy="45720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REVIEW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315200" y="1783080"/>
            <a:ext cx="1737360" cy="269748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052560" y="2286000"/>
            <a:ext cx="2468880" cy="45720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LOWSTOCKALERT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315200" y="2514600"/>
            <a:ext cx="1737360" cy="196596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052560" y="3017520"/>
            <a:ext cx="2468880" cy="45720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PURCHASE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7315200" y="3246120"/>
            <a:ext cx="1737360" cy="123444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052560" y="3749039"/>
            <a:ext cx="2468880" cy="45720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PRODUCTEVENT (TTL)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7315200" y="3977639"/>
            <a:ext cx="1737360" cy="502921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052560" y="4480560"/>
            <a:ext cx="2468880" cy="45720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CATEGORY</a:t>
            </a:r>
          </a:p>
        </p:txBody>
      </p:sp>
      <p:cxnSp>
        <p:nvCxnSpPr>
          <p:cNvPr id="26" name="Connector 25"/>
          <p:cNvCxnSpPr/>
          <p:nvPr/>
        </p:nvCxnSpPr>
        <p:spPr>
          <a:xfrm flipH="1" flipV="1">
            <a:off x="7315200" y="4480560"/>
            <a:ext cx="1737360" cy="22860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80760" y="2167128"/>
            <a:ext cx="0" cy="1993392"/>
          </a:xfrm>
          <a:prstGeom prst="line">
            <a:avLst/>
          </a:prstGeom>
          <a:ln w="1587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172200" y="297180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00" b="0">
                <a:solidFill>
                  <a:srgbClr val="FB923C"/>
                </a:solidFill>
                <a:latin typeface="Segoe UI"/>
              </a:rPr>
              <a:t>orders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Embed what's owned &amp; read together (variants in Product); reference what's shared (Order → Product). Orders/Purchases store snapshots so history never changes. Money = integer cents. 14 collections.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Architecture &amp; Request Lifecycle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10881360" cy="1051560"/>
          </a:xfrm>
          <a:prstGeom prst="roundRect">
            <a:avLst/>
          </a:prstGeom>
          <a:solidFill>
            <a:srgbClr val="2A1408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6362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FB923C"/>
                </a:solidFill>
                <a:latin typeface="Segoe UI"/>
              </a:rPr>
              <a:t>CLIENT · React 19 SPA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1892807"/>
            <a:ext cx="3017520" cy="54864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8FAFC"/>
                </a:solidFill>
                <a:latin typeface="Segoe UI"/>
              </a:rPr>
              <a:t>Pages + UI + Contexts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892807"/>
            <a:ext cx="3017520" cy="54864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services/api.ts (Axios+refresh)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1892807"/>
            <a:ext cx="3566160" cy="54864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single-flight silent refresh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880360"/>
            <a:ext cx="10881360" cy="1234440"/>
          </a:xfrm>
          <a:prstGeom prst="roundRect">
            <a:avLst/>
          </a:prstGeom>
          <a:solidFill>
            <a:srgbClr val="072220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93522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2DD4BF"/>
                </a:solidFill>
                <a:latin typeface="Segoe UI"/>
              </a:rPr>
              <a:t>SERVER · Express + TypeScript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337560"/>
            <a:ext cx="2286000" cy="56692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middleware</a:t>
            </a:r>
          </a:p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chain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0440" y="3337560"/>
            <a:ext cx="1828800" cy="56692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16 routers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3337560"/>
            <a:ext cx="2103120" cy="56692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controllers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337560"/>
            <a:ext cx="2743200" cy="56692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one errorHandler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526280"/>
            <a:ext cx="10881360" cy="1051560"/>
          </a:xfrm>
          <a:prstGeom prst="roundRect">
            <a:avLst/>
          </a:prstGeom>
          <a:solidFill>
            <a:srgbClr val="1A122E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58114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A78BFA"/>
                </a:solidFill>
                <a:latin typeface="Segoe UI"/>
              </a:rPr>
              <a:t>DATA &amp; EXTERNAL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910328"/>
            <a:ext cx="2377440" cy="54864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MongoDB · 14 col.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11880" y="4910328"/>
            <a:ext cx="2377440" cy="54864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Stripe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910328"/>
            <a:ext cx="2377440" cy="54864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Cloudinary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4910328"/>
            <a:ext cx="2377440" cy="54864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SMTP / console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80760" y="2441448"/>
            <a:ext cx="0" cy="438912"/>
          </a:xfrm>
          <a:prstGeom prst="line">
            <a:avLst/>
          </a:prstGeom>
          <a:ln w="15875">
            <a:solidFill>
              <a:srgbClr val="2DD4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80760" y="4114800"/>
            <a:ext cx="0" cy="411480"/>
          </a:xfrm>
          <a:prstGeom prst="line">
            <a:avLst/>
          </a:prstGeom>
          <a:ln w="15875">
            <a:solidFill>
              <a:srgbClr val="A78BF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0080" y="5943600"/>
            <a:ext cx="1088136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Every request: helmet → CORS → (raw webhook body BEFORE json) → rate limit → authN/authZ → controller → one error handler. Raw-before-JSON is what makes Stripe payments tamper-proof.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Sprint Board &amp; Pre-Dev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Planned as 11 epics → 40 sub-tasks → 311 story points, split evenly by strength (Jira board).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Big bets made up front, so we never relitigated them:</a:t>
            </a:r>
          </a:p>
          <a:p>
            <a:pPr algn="l" lvl="1">
              <a:lnSpc>
                <a:spcPct val="114000"/>
              </a:lnSpc>
              <a:spcAft>
                <a:spcPts val="800"/>
              </a:spcAft>
            </a:pPr>
            <a:r>
              <a:rPr sz="1500" b="0">
                <a:solidFill>
                  <a:srgbClr val="94A3B8"/>
                </a:solidFill>
                <a:latin typeface="Segoe UI"/>
              </a:rPr>
              <a:t>–  MERN + TypeScript everywhere; MongoDB document model for variant-heavy products.</a:t>
            </a:r>
          </a:p>
          <a:p>
            <a:pPr algn="l" lvl="1">
              <a:lnSpc>
                <a:spcPct val="114000"/>
              </a:lnSpc>
              <a:spcAft>
                <a:spcPts val="800"/>
              </a:spcAft>
            </a:pPr>
            <a:r>
              <a:rPr sz="1500" b="0">
                <a:solidFill>
                  <a:srgbClr val="94A3B8"/>
                </a:solidFill>
                <a:latin typeface="Segoe UI"/>
              </a:rPr>
              <a:t>–  Integer cents for money; two-token auth; Stripe; Tailwind token system.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That's why the codebase is coherent, not stitched together.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Live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88136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One shopper's journey, end to end.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FB923C"/>
                </a:solidFill>
                <a:latin typeface="Segoe UI"/>
              </a:rPr>
              <a:t>Each of us jumps in on the part we built — Haya shops, Malik secures &amp; sells, Mahmod proves the data.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F8FAFC"/>
                </a:solidFill>
                <a:latin typeface="Segoe UI"/>
              </a:rPr>
              <a:t>Demo — Storefront, Image ↔ Variant Sync &amp; Views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2DD4BF"/>
                </a:solidFill>
                <a:latin typeface="Segoe UI"/>
              </a:rPr>
              <a:t>Haya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Guest browsing — live category nav (by slug), URL-driven search (shareable, back-safe), filters.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Views under each product: every product-page visit records a view; the card shows the total (social proof).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Image ↔ variant ↔ price are linked: pick a size → price, gallery, and stock all update at once.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It works both ways: scroll the gallery into another size's photos → that variant auto-selects.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Wishlist + cart (with toast) as a guest; on sign-in the cart merges. Handoff to Malik.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F8FAFC"/>
                </a:solidFill>
                <a:latin typeface="Segoe UI"/>
              </a:rPr>
              <a:t>Demo — Auth, Axios &amp; the Global Search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Sign in → guest cart merges onto the account.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Axios adds the login token to every request in one place — token kept in memory, never localStorage.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On 401, Axios silently gets a new token (http-only cookie) and retries — one interceptor, not per-call.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Why Axios over fetch: write the token + auto-refresh once, not on every call (a missed spot = a hole).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Admin endpoint as a customer → 403 (RBAC on the server). Plus one reusable search box on every admin page.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F8FAFC"/>
                </a:solidFill>
                <a:latin typeface="Segoe UI"/>
              </a:rPr>
              <a:t>Demo — Checkout, Lifecycle &amp; Verified Reviews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Apply a coupon, pay: the server re-prices the cart and re-checks the coupon from scratch (never trusts the browser).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Stock drops only on payment success — one safe DB step; two buyers of the last unit can't both win.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Admin queue: confirm → ship → deliver, each move validated (no skipping); the customer is notified each time.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Delivered unlocks a verified review — only a real buyer of that product can review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F8FAFC"/>
                </a:solidFill>
                <a:latin typeface="Segoe UI"/>
              </a:rPr>
              <a:t>Demo — Integrity, Audit Export &amp; Notifications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A78BFA"/>
                </a:solidFill>
                <a:latin typeface="Segoe UI"/>
              </a:rPr>
              <a:t>Mahmod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Snapshots: an order freezes the product name + price — rename it later, the old order is unchanged.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Audit log is append-only — every privileged action recorded (who, what, before/after); edits are rejected.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Export the audit log — search filters the table, Export gives a CSV of EXACTLY those rows (JSON option too).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Order notifications: each status change sends the customer a clear message (bell + email).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F8FAFC"/>
                </a:solidFill>
                <a:latin typeface="Segoe UI"/>
              </a:rPr>
              <a:t>Procurement &amp; Weighted-Average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A78BFA"/>
                </a:solidFill>
                <a:latin typeface="Segoe UI"/>
              </a:rPr>
              <a:t>Mahmod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Record a stock purchase: stock rises AND weighted-average cost blends old + new by quantity.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Both happen in a single atomic database operation — stock and cost can never disagree.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The dashboard month-spend tile moves in real time.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If the record fails after the stock update, we auto-undo it — a compensating step.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F8FAFC"/>
                </a:solidFill>
                <a:latin typeface="Segoe UI"/>
              </a:rPr>
              <a:t>Smart Discovery — Views, Trending &amp; Recommendations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94A3B8"/>
                </a:solidFill>
                <a:latin typeface="Segoe UI"/>
              </a:rPr>
              <a:t>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Views (Haya): every product-page open records a view; sent in small batches; own collection; auto-deletes after 180 days.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Trending (Mahmod): a nightly job flags the products with the most VIEWS in the last 7 days.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Most-selling (Mahmod): flags the products with the most UNITS SOLD in the last 7 days — a different signal.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Recommendations (Malik): a co-occurrence engine — products bought by the same customer score together (recency-weighted).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All computed nightly and read from a cache, so pages stay fast; the analytics charts use live aggregation.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What We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94A3B8"/>
                </a:solidFill>
                <a:latin typeface="Segoe UI"/>
              </a:rPr>
              <a:t>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45920"/>
            <a:ext cx="3566160" cy="3566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773936"/>
            <a:ext cx="3200400" cy="3291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Haya — How login really works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Why the login token lives in the app's memory, not the browser's storage — so a sneaky script can't read it and pretend to be you. Web security became real, not just a word.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645920"/>
            <a:ext cx="3566160" cy="3566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773936"/>
            <a:ext cx="3200400" cy="3291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Malik — Plan for failure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When one action changes two things, if the second step fails I undo the first — so we're never left half-finished (stock up, but the record never saved). "What if this fails?" made my code safer.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3566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773936"/>
            <a:ext cx="3108960" cy="3291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Mahmod — The database enforces the rules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One simple database rule guarantees one review per customer per product — so even a bug can't create duplicates. The database protects our data; it isn't just a passive box.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Still Challenging (honest)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94A3B8"/>
                </a:solidFill>
                <a:latin typeface="Segoe UI"/>
              </a:rPr>
              <a:t>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Haya — automated frontend testing: we have a backend suite; UI component tests are next.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Malik — designing for horizontal scale: Redis + a cron leader-lock, not yet run multi-instance.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Mahmod — a formal data-migration workflow for evolving live data safely.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None of these block the product — they're the edges we're growing into.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F8FAFC"/>
                </a:solidFill>
                <a:latin typeface="Segoe UI"/>
              </a:rPr>
              <a:t>Evaluation Criteria — How We Meet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88136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943600"/>
                <a:gridCol w="16459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Segoe UI"/>
                        </a:rPr>
                        <a:t>Criterion</a:t>
                      </a:r>
                    </a:p>
                  </a:txBody>
                  <a:tcPr marL="73152" marR="73152" marT="27432" marB="27432" anchor="ctr"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Segoe UI"/>
                        </a:rPr>
                        <a:t>Evidence (file)</a:t>
                      </a:r>
                    </a:p>
                  </a:txBody>
                  <a:tcPr marL="73152" marR="73152" marT="27432" marB="27432" anchor="ctr"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Segoe UI"/>
                        </a:rPr>
                        <a:t>Who</a:t>
                      </a:r>
                    </a:p>
                  </a:txBody>
                  <a:tcPr marL="73152" marR="73152" marT="27432" marB="27432" anchor="ctr">
                    <a:solidFill>
                      <a:srgbClr val="27344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Backend architecture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middleware chain; two-phase pay→confirm (order.ts)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Malik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Security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rotation+reuse (auth.ts); fail-closed webhook; test_fixes 20/20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Malik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Database design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snapshots; partial + unique indexes; append-only audit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Mahmod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UI/UX &amp; responsiveness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token system; live nav; mobile drawer (StorefrontLayout)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Haya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Functionality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25+ features — image↔variant sync, views, audit export, recommendations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All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Code quality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one error pipeline; typed schemas; regression suite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Malik/Haya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F8FAFC"/>
                </a:solidFill>
                <a:latin typeface="Segoe UI"/>
              </a:rPr>
              <a:t>Security — Found → Fixed → Proven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737360"/>
          <a:ext cx="108813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4206240"/>
                <a:gridCol w="246888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Found</a:t>
                      </a:r>
                    </a:p>
                  </a:txBody>
                  <a:tcPr marL="73152" marR="73152" marT="27432" marB="27432" anchor="ctr"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Fixed</a:t>
                      </a:r>
                    </a:p>
                  </a:txBody>
                  <a:tcPr marL="73152" marR="73152" marT="27432" marB="27432" anchor="ctr"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Proven</a:t>
                      </a:r>
                    </a:p>
                  </a:txBody>
                  <a:tcPr marL="73152" marR="73152" marT="27432" marB="27432" anchor="ctr">
                    <a:solidFill>
                      <a:srgbClr val="27344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Webhook trusted unverified input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raw body + fail-closed (400)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test_fixes.ts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Oversell race on stock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atomic guarded $inc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20 / 20 checks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Refunds were status-only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real Stripe refund + audit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clean tsc builds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JWT secret used a silent fallback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lazy read + prod fail-fast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HTTP smoke test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Honesty — Open Items &amp;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Rate limiting works today (counts requests per user/IP, blocks floods); multi-server needs a shared Redis store.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Dev-format logging; no CI/Docker yet; client bundle could be code-split.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None is a happy-path correctness bug — they're scaling &amp; hygiene items, each with a clear fix.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We'd rather raise them ourselves than have you find them.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Future — Smart Energy Advisor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94A3B8"/>
                </a:solidFill>
                <a:latin typeface="Segoe UI"/>
              </a:rPr>
              <a:t>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7680960" cy="2377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Two $899 fridges look identical — but one can cost double to run.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Store each appliance's energy use; show its real yearly running cost under Lebanese conditions.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EDL grid tariff + private generator rate — and sort the whole catalog by total cost of ownership.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94760"/>
            <a:ext cx="10881360" cy="868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B923C"/>
                </a:solidFill>
                <a:latin typeface="Segoe UI"/>
              </a:rPr>
              <a:t>yearlyCost = kWh/yr × (gridShare×EDL + genShare×generator)     5-yr TCO = price + 5 × yearlyCost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892040"/>
            <a:ext cx="10881360" cy="960120"/>
          </a:xfrm>
          <a:prstGeom prst="roundRect">
            <a:avLst/>
          </a:prstGeom>
          <a:solidFill>
            <a:srgbClr val="2A1408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8FAFC"/>
                </a:solidFill>
                <a:latin typeface="Segoe UI"/>
              </a:rPr>
              <a:t>"This fridge costs $120/year to run — this one $55."  In Lebanon, that's the sentence that closes the sale.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5486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4600" b="1">
                <a:solidFill>
                  <a:srgbClr val="F8FAFC"/>
                </a:solidFill>
                <a:latin typeface="Segoe U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FB923C"/>
                </a:solidFill>
                <a:latin typeface="Segoe UI"/>
              </a:rPr>
              <a:t>Questions? We know exactly where everything lives — name it and we'll open the file.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1069848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800" b="1">
                <a:solidFill>
                  <a:srgbClr val="2DD4BF"/>
                </a:solidFill>
                <a:latin typeface="Segoe UI"/>
              </a:rPr>
              <a:t>Haya · Frontend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800" b="1">
                <a:solidFill>
                  <a:srgbClr val="FB923C"/>
                </a:solidFill>
                <a:latin typeface="Segoe UI"/>
              </a:rPr>
              <a:t>Malik · Backend &amp; Architecture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800" b="1">
                <a:solidFill>
                  <a:srgbClr val="A78BFA"/>
                </a:solidFill>
                <a:latin typeface="Segoe UI"/>
              </a:rPr>
              <a:t>Mahmod · Database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