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200" b="1">
                <a:solidFill>
                  <a:srgbClr val="F8FAFC"/>
                </a:solidFill>
                <a:latin typeface="Segoe UI"/>
              </a:rPr>
              <a:t>Backup — Deep Dives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6984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A78BFA"/>
                </a:solidFill>
                <a:latin typeface="Segoe UI"/>
              </a:rPr>
              <a:t>Jump here on deep-dive questions (mapping in rehearsal.html).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05256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400" b="1">
                <a:solidFill>
                  <a:srgbClr val="F8FAFC"/>
                </a:solidFill>
                <a:latin typeface="Segoe UI"/>
              </a:rPr>
              <a:t>Auth — Login, Rotation, Reuse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9456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59975" y="457200"/>
            <a:ext cx="1828800" cy="38404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B923C"/>
                </a:solidFill>
                <a:latin typeface="Segoe UI"/>
              </a:rPr>
              <a:t>Malik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9975" y="89611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OptiCart Appliances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B2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54480"/>
            <a:ext cx="2468880" cy="6400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F8FAFC"/>
                </a:solidFill>
                <a:latin typeface="Segoe UI"/>
              </a:rPr>
              <a:t>Browser</a:t>
            </a:r>
          </a:p>
          <a:p>
            <a:pPr algn="ctr"/>
            <a:r>
              <a:rPr sz="1150" b="1">
                <a:solidFill>
                  <a:srgbClr val="F8FAFC"/>
                </a:solidFill>
                <a:latin typeface="Segoe UI"/>
              </a:rPr>
              <a:t>(memory token)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11680" y="2194560"/>
            <a:ext cx="0" cy="356616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800600" y="1554480"/>
            <a:ext cx="2468880" cy="6400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F8FAFC"/>
                </a:solidFill>
                <a:latin typeface="Segoe UI"/>
              </a:rPr>
              <a:t>Express /api/auth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35040" y="2194560"/>
            <a:ext cx="0" cy="356616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823960" y="1554480"/>
            <a:ext cx="2468880" cy="6400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F8FAFC"/>
                </a:solidFill>
                <a:latin typeface="Segoe UI"/>
              </a:rPr>
              <a:t>MongoDB users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058400" y="2194560"/>
            <a:ext cx="0" cy="356616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011680" y="2514600"/>
            <a:ext cx="4023360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103120" y="2203704"/>
            <a:ext cx="3840479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2DD4BF"/>
                </a:solidFill>
                <a:latin typeface="Segoe UI"/>
              </a:rPr>
              <a:t>POST /login (email, password)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35040" y="2651760"/>
            <a:ext cx="4023360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26479" y="2340864"/>
            <a:ext cx="384048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A78BFA"/>
                </a:solidFill>
                <a:latin typeface="Segoe UI"/>
              </a:rPr>
              <a:t>store SHA-256(refresh)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2011680" y="2651760"/>
            <a:ext cx="4023360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03120" y="2340864"/>
            <a:ext cx="3840479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FB923C"/>
                </a:solidFill>
                <a:latin typeface="Segoe UI"/>
              </a:rPr>
              <a:t>JWT 15m + refresh cookie (httpOnly)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011680" y="3246120"/>
            <a:ext cx="4023360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103120" y="2935224"/>
            <a:ext cx="3840479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2DD4BF"/>
                </a:solidFill>
                <a:latin typeface="Segoe UI"/>
              </a:rPr>
              <a:t>POST /refresh (single-flight)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35040" y="3246120"/>
            <a:ext cx="4023360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26479" y="2935224"/>
            <a:ext cx="384048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A78BFA"/>
                </a:solidFill>
                <a:latin typeface="Segoe UI"/>
              </a:rPr>
              <a:t>findOneAndUpdate: new hash, prev, grace 30s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023360"/>
            <a:ext cx="10515600" cy="1600200"/>
          </a:xfrm>
          <a:prstGeom prst="roundRect">
            <a:avLst/>
          </a:prstGeom>
          <a:solidFill>
            <a:srgbClr val="141B2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114800"/>
            <a:ext cx="101498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94A3B8"/>
                </a:solidFill>
                <a:latin typeface="Segoe UI"/>
              </a:rPr>
              <a:t>alt — three outcomes on refresh: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34D399"/>
                </a:solidFill>
                <a:latin typeface="Segoe UI"/>
              </a:rPr>
              <a:t>✔  winner → new access token + rotated cookie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FBBF24"/>
                </a:solidFill>
                <a:latin typeface="Segoe UI"/>
              </a:rPr>
              <a:t>↺  concurrent within 30s grace → new access token, no re-rotate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F87171"/>
                </a:solidFill>
                <a:latin typeface="Segoe UI"/>
              </a:rPr>
              <a:t>✘  stale outside grace → null ALL hashes → 403 AUTH_SESSION_COMPROMISED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05256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Middleware Chain — Order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9456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59975" y="457200"/>
            <a:ext cx="1828800" cy="38404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B923C"/>
                </a:solidFill>
                <a:latin typeface="Segoe UI"/>
              </a:rPr>
              <a:t>Malik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9975" y="89611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OptiCart Appliances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B3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03120"/>
            <a:ext cx="1463040" cy="8686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helmet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67712" y="2103120"/>
            <a:ext cx="1463040" cy="8686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CORS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03120" y="2537460"/>
            <a:ext cx="164592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895344" y="2103120"/>
            <a:ext cx="1463040" cy="8686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raw webhook</a:t>
            </a:r>
          </a:p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(before json)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30752" y="2537460"/>
            <a:ext cx="164592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522976" y="2103120"/>
            <a:ext cx="1463040" cy="8686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json + cookies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58383" y="2537460"/>
            <a:ext cx="164593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50608" y="2103120"/>
            <a:ext cx="1463040" cy="8686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rate limit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86016" y="2537460"/>
            <a:ext cx="164592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778240" y="2103120"/>
            <a:ext cx="1463040" cy="8686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authN / authZ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13648" y="2537460"/>
            <a:ext cx="164592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405872" y="2103120"/>
            <a:ext cx="1463040" cy="8686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controller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241280" y="2537460"/>
            <a:ext cx="164592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137392" y="2971800"/>
            <a:ext cx="0" cy="45720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040111" y="3429000"/>
            <a:ext cx="2194560" cy="640080"/>
          </a:xfrm>
          <a:prstGeom prst="roundRect">
            <a:avLst/>
          </a:prstGeom>
          <a:solidFill>
            <a:srgbClr val="222E44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JSON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Segoe UI"/>
              </a:rPr>
              <a:t>The raw-webhook mount comes BEFORE express.json so Stripe's signed bytes survive —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parse first and the signature can't be verified. Ordering is correctness, not cosmetics.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05256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Request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9456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59975" y="457200"/>
            <a:ext cx="1828800" cy="38404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B923C"/>
                </a:solidFill>
                <a:latin typeface="Segoe UI"/>
              </a:rPr>
              <a:t>Malik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9975" y="89611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OptiCart Appliances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B4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768096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helmet → CORS(credentials) → raw webhook body (before json!) → express.json + cookies →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morgan → rate limit (1000/15m) → authenticate → authorize(...roles) → controller.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Success → JSON. Any throw → one errorHandler → { error: { message, code } }.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Boot order: env → Mongo(retry) → syncIndexes → middleware → routers → cron → listen.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05256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400" b="1">
                <a:solidFill>
                  <a:srgbClr val="F8FAFC"/>
                </a:solidFill>
                <a:latin typeface="Segoe UI"/>
              </a:rPr>
              <a:t>Data Model — ERD (14 collections)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9456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59975" y="457200"/>
            <a:ext cx="1828800" cy="38404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A78BFA"/>
                </a:solidFill>
                <a:latin typeface="Segoe UI"/>
              </a:rPr>
              <a:t>Mahmod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9975" y="89611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OptiCart Appliances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B5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508760"/>
            <a:ext cx="2468880" cy="658368"/>
          </a:xfrm>
          <a:prstGeom prst="roundRect">
            <a:avLst/>
          </a:prstGeom>
          <a:solidFill>
            <a:srgbClr val="2A1408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8FAFC"/>
                </a:solidFill>
                <a:latin typeface="Segoe UI"/>
              </a:rPr>
              <a:t>USER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4160520"/>
            <a:ext cx="2468880" cy="658368"/>
          </a:xfrm>
          <a:prstGeom prst="roundRect">
            <a:avLst/>
          </a:prstGeom>
          <a:solidFill>
            <a:srgbClr val="1A122E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8FAFC"/>
                </a:solidFill>
                <a:latin typeface="Segoe UI"/>
              </a:rPr>
              <a:t>PRODUCT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737360"/>
            <a:ext cx="2468880" cy="50292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F8FAFC"/>
                </a:solidFill>
                <a:latin typeface="Segoe UI"/>
              </a:rPr>
              <a:t>ORDER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108960" y="1828800"/>
            <a:ext cx="1737360" cy="155448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1005840"/>
            <a:ext cx="2468880" cy="50292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F8FAFC"/>
                </a:solidFill>
                <a:latin typeface="Segoe UI"/>
              </a:rPr>
              <a:t>CART / WISHLIST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08960" y="1252728"/>
            <a:ext cx="1737360" cy="576072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" y="2834640"/>
            <a:ext cx="2468880" cy="50292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F8FAFC"/>
                </a:solidFill>
                <a:latin typeface="Segoe UI"/>
              </a:rPr>
              <a:t>REVIEW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108960" y="1828800"/>
            <a:ext cx="1737360" cy="1252728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052560" y="1554480"/>
            <a:ext cx="2468880" cy="45720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8FAFC"/>
                </a:solidFill>
                <a:latin typeface="Segoe UI"/>
              </a:rPr>
              <a:t>REVIEW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315200" y="1783080"/>
            <a:ext cx="1737360" cy="269748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052560" y="2286000"/>
            <a:ext cx="2468880" cy="45720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8FAFC"/>
                </a:solidFill>
                <a:latin typeface="Segoe UI"/>
              </a:rPr>
              <a:t>LOWSTOCKALERT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7315200" y="2514600"/>
            <a:ext cx="1737360" cy="196596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052560" y="3017520"/>
            <a:ext cx="2468880" cy="45720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8FAFC"/>
                </a:solidFill>
                <a:latin typeface="Segoe UI"/>
              </a:rPr>
              <a:t>PURCHASE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7315200" y="3246120"/>
            <a:ext cx="1737360" cy="123444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52560" y="3749039"/>
            <a:ext cx="2468880" cy="45720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8FAFC"/>
                </a:solidFill>
                <a:latin typeface="Segoe UI"/>
              </a:rPr>
              <a:t>PRODUCTEVENT (TTL)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7315200" y="3977639"/>
            <a:ext cx="1737360" cy="502921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52560" y="4480560"/>
            <a:ext cx="2468880" cy="45720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8FAFC"/>
                </a:solidFill>
                <a:latin typeface="Segoe UI"/>
              </a:rPr>
              <a:t>CATEGORY</a:t>
            </a:r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7315200" y="4480560"/>
            <a:ext cx="1737360" cy="22860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80760" y="2167128"/>
            <a:ext cx="0" cy="1993392"/>
          </a:xfrm>
          <a:prstGeom prst="line">
            <a:avLst/>
          </a:prstGeom>
          <a:ln w="15875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72200" y="297180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FB923C"/>
                </a:solidFill>
                <a:latin typeface="Segoe UI"/>
              </a:rPr>
              <a:t>orders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05256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Embed vs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9456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59975" y="457200"/>
            <a:ext cx="1828800" cy="38404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A78BFA"/>
                </a:solidFill>
                <a:latin typeface="Segoe UI"/>
              </a:rPr>
              <a:t>Mahmod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9975" y="89611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OptiCart Appliances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B6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5303520" cy="3108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773936"/>
            <a:ext cx="4937759" cy="2834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Segoe UI"/>
              </a:rPr>
              <a:t>Embed (owned, read together)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Variants inside Product; addresses inside User; refund subdoc inside Order. One query loads everything, updates atomically. Threshold: dozens fine, hundreds → split 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303520" cy="3108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73936"/>
            <a:ext cx="4937759" cy="2834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Segoe UI"/>
              </a:rPr>
              <a:t>Reference (shared, independent)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Order → Product, Review → User+Product, Purchase → Product. Plus snapshots on Order &amp; Purchase so history is immutable even when the source changes.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05256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Snapshots &amp; Money-as-Cents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9456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59975" y="457200"/>
            <a:ext cx="1828800" cy="38404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A78BFA"/>
                </a:solidFill>
                <a:latin typeface="Segoe UI"/>
              </a:rPr>
              <a:t>Mahmod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9975" y="89611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OptiCart Appliances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B7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768096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Orders freeze item name + price; Purchases freeze product + buyer name.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Rename or reprice a product later → past records never change. History wins over normalization.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Every monetary field is an integer count of cents — floats can't represent money exactly.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Format to dollars only at the very edge (UI); never do arithmetic on displayed dollars.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05256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400" b="1">
                <a:solidFill>
                  <a:srgbClr val="F8FAFC"/>
                </a:solidFill>
                <a:latin typeface="Segoe UI"/>
              </a:rPr>
              <a:t>Index Strategy — Rules, not just Speed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9456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59975" y="457200"/>
            <a:ext cx="1828800" cy="38404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A78BFA"/>
                </a:solidFill>
                <a:latin typeface="Segoe UI"/>
              </a:rPr>
              <a:t>Mahmod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9975" y="89611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OptiCart Appliances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B8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737360"/>
          <a:ext cx="1088136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3093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8FAFC"/>
                          </a:solidFill>
                          <a:latin typeface="Segoe UI"/>
                        </a:rPr>
                        <a:t>Index</a:t>
                      </a:r>
                    </a:p>
                  </a:txBody>
                  <a:tcPr marL="73152" marR="73152" marT="27432" marB="27432" anchor="ctr">
                    <a:solidFill>
                      <a:srgbClr val="27344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8FAFC"/>
                          </a:solidFill>
                          <a:latin typeface="Segoe UI"/>
                        </a:rPr>
                        <a:t>Serves</a:t>
                      </a:r>
                    </a:p>
                  </a:txBody>
                  <a:tcPr marL="73152" marR="73152" marT="27432" marB="27432" anchor="ctr">
                    <a:solidFill>
                      <a:srgbClr val="27344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Segoe UI"/>
                        </a:rPr>
                        <a:t>unique (user, product)</a:t>
                      </a:r>
                    </a:p>
                  </a:txBody>
                  <a:tcPr marL="73152" marR="73152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Segoe UI"/>
                        </a:rPr>
                        <a:t>one review per customer per product</a:t>
                      </a:r>
                    </a:p>
                  </a:txBody>
                  <a:tcPr marL="73152" marR="73152" marT="27432" marB="27432" anchor="ctr">
                    <a:solidFill>
                      <a:srgbClr val="1E293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Segoe UI"/>
                        </a:rPr>
                        <a:t>partial unique (active only)</a:t>
                      </a:r>
                    </a:p>
                  </a:txBody>
                  <a:tcPr marL="73152" marR="73152" marT="27432" marB="27432" anchor="ctr">
                    <a:solidFill>
                      <a:srgbClr val="222E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Segoe UI"/>
                        </a:rPr>
                        <a:t>one active low-stock alert per variant</a:t>
                      </a:r>
                    </a:p>
                  </a:txBody>
                  <a:tcPr marL="73152" marR="73152" marT="27432" marB="27432" anchor="ctr">
                    <a:solidFill>
                      <a:srgbClr val="222E4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Segoe UI"/>
                        </a:rPr>
                        <a:t>TTL 180d on ProductEvent</a:t>
                      </a:r>
                    </a:p>
                  </a:txBody>
                  <a:tcPr marL="73152" marR="73152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Segoe UI"/>
                        </a:rPr>
                        <a:t>self-pruning view stream</a:t>
                      </a:r>
                    </a:p>
                  </a:txBody>
                  <a:tcPr marL="73152" marR="73152" marT="27432" marB="27432" anchor="ctr">
                    <a:solidFill>
                      <a:srgbClr val="1E293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Segoe UI"/>
                        </a:rPr>
                        <a:t>text (name, description)</a:t>
                      </a:r>
                    </a:p>
                  </a:txBody>
                  <a:tcPr marL="73152" marR="73152" marT="27432" marB="27432" anchor="ctr">
                    <a:solidFill>
                      <a:srgbClr val="222E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Segoe UI"/>
                        </a:rPr>
                        <a:t>catalog search ranking</a:t>
                      </a:r>
                    </a:p>
                  </a:txBody>
                  <a:tcPr marL="73152" marR="73152" marT="27432" marB="27432" anchor="ctr">
                    <a:solidFill>
                      <a:srgbClr val="222E4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Segoe UI"/>
                        </a:rPr>
                        <a:t>compound on AuditLog</a:t>
                      </a:r>
                    </a:p>
                  </a:txBody>
                  <a:tcPr marL="73152" marR="73152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Segoe UI"/>
                        </a:rPr>
                        <a:t>filter by actor / action / target</a:t>
                      </a:r>
                    </a:p>
                  </a:txBody>
                  <a:tcPr marL="73152" marR="73152" marT="27432" marB="27432"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05256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400" b="1">
                <a:solidFill>
                  <a:srgbClr val="F8FAFC"/>
                </a:solidFill>
                <a:latin typeface="Segoe UI"/>
              </a:rPr>
              <a:t>Weighted-Average Costing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9456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59975" y="457200"/>
            <a:ext cx="1828800" cy="38404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A78BFA"/>
                </a:solidFill>
                <a:latin typeface="Segoe UI"/>
              </a:rPr>
              <a:t>Mahmod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9975" y="89611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OptiCart Appliances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B9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1088136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B923C"/>
                </a:solidFill>
                <a:latin typeface="Segoe UI"/>
              </a:rPr>
              <a:t>newCost = (oldStock×oldCost + qty×unitCost) ÷ (oldStock + qty)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7680960" cy="2926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One atomic aggregation-pipeline findOneAndUpdate with $map adds stock AND blends cost together.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Stock and cost can never disagree — no window between them.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If the Purchase record fails afterward, a compensating update reverts the change.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Delete mirrors it and refuses (409) if the revert would drive stock negative.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05256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Checkout &amp; Fail-Closed Webhook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9456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59975" y="457200"/>
            <a:ext cx="1828800" cy="38404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B923C"/>
                </a:solidFill>
                <a:latin typeface="Segoe UI"/>
              </a:rPr>
              <a:t>Malik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9975" y="89611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OptiCart Appliances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B10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1645920"/>
            <a:ext cx="9235440" cy="65836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50" b="1">
                <a:solidFill>
                  <a:srgbClr val="F8FAFC"/>
                </a:solidFill>
                <a:latin typeface="Segoe UI"/>
              </a:rPr>
              <a:t>POST /checkout — re-price cart, re-validate coupon (server-side)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2304288"/>
            <a:ext cx="0" cy="210312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463040" y="2514600"/>
            <a:ext cx="9235440" cy="65836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50" b="1">
                <a:solidFill>
                  <a:srgbClr val="F8FAFC"/>
                </a:solidFill>
                <a:latin typeface="Segoe UI"/>
              </a:rPr>
              <a:t>create Stripe PaymentIntent (or mock if keyless)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3172968"/>
            <a:ext cx="0" cy="210312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463040" y="3383280"/>
            <a:ext cx="9235440" cy="65836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50" b="1">
                <a:solidFill>
                  <a:srgbClr val="F8FAFC"/>
                </a:solidFill>
                <a:latin typeface="Segoe UI"/>
              </a:rPr>
              <a:t>Stripe → webhook (raw body): verify signature FAIL-CLOSED (400)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4041648"/>
            <a:ext cx="0" cy="210312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251960"/>
            <a:ext cx="9235440" cy="65836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50" b="1">
                <a:solidFill>
                  <a:srgbClr val="F8FAFC"/>
                </a:solidFill>
                <a:latin typeface="Segoe UI"/>
              </a:rPr>
              <a:t>atomic $inc stock guarded by stock ≥ qty (clamp 0 on race)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4910328"/>
            <a:ext cx="0" cy="210312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463040" y="5120640"/>
            <a:ext cx="9235440" cy="65836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50" b="1">
                <a:solidFill>
                  <a:srgbClr val="F8FAFC"/>
                </a:solidFill>
                <a:latin typeface="Segoe UI"/>
              </a:rPr>
              <a:t>create Order (server prices, line snapshots) + purchase event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05256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Atomic Stock — No Oversell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9456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59975" y="457200"/>
            <a:ext cx="1828800" cy="38404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B923C"/>
                </a:solidFill>
                <a:latin typeface="Segoe UI"/>
              </a:rPr>
              <a:t>Malik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9975" y="89611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OptiCart Appliances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B11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1088136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B923C"/>
                </a:solidFill>
                <a:latin typeface="Segoe UI"/>
              </a:rPr>
              <a:t>updateOne({ _id, 'variants.sku': sku, 'variants.stock': { $gte: qty } }, { $inc: { 'variants.$.stock': -qty } 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7680960" cy="2743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The guard stock ≥ qty lives in the query — the database arbitrates concurrent orders.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The loser of a race matches zero documents; we clamp to 0 and log a warning.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Stock only decrements on payment_intent.succeeded — a failed payment leaves inventory untouched.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05256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Refund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9456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59975" y="457200"/>
            <a:ext cx="1828800" cy="38404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B923C"/>
                </a:solidFill>
                <a:latin typeface="Segoe UI"/>
              </a:rPr>
              <a:t>Malik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9975" y="89611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OptiCart Appliances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B12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768096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stripe.refunds.create (mock id if keyless) runs BEFORE the status persists.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The embedded refund subdoc is populated; a dedicated refund_decision audit entry is written.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A Stripe failure aborts with 502 REFUND_FAILED — status never claims money moved when it didn't.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05256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Error Handling — One Envelope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9456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59975" y="457200"/>
            <a:ext cx="1828800" cy="38404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B923C"/>
                </a:solidFill>
                <a:latin typeface="Segoe UI"/>
              </a:rPr>
              <a:t>Malik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9975" y="89611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OptiCart Appliances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B13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1088136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B923C"/>
                </a:solidFill>
                <a:latin typeface="Segoe UI"/>
              </a:rPr>
              <a:t>{ "error": { "message": "Coupon has expired", "code": "COUPON_EXPIRED" }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7680960" cy="2743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Controllers throw AppError(message, status, code); one errorHandler serialises everything.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Zod validation failures → 400 with field detail; unknown errors → generic 500, no stack leak.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Predictable contract the client can branch on and localise.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05256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Security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9456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59975" y="457200"/>
            <a:ext cx="1828800" cy="38404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B923C"/>
                </a:solidFill>
                <a:latin typeface="Segoe UI"/>
              </a:rPr>
              <a:t>Malik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9975" y="89611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OptiCart Appliances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B14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768096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Transport: helmet headers, CORS allow-list, SameSite=Strict refresh cookie.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Auth: bcrypt(12), 15-min memory JWT, rotating hashed refresh, reuse detection.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Input: Zod allow-lists strip unknown fields (no role/isActive smuggling).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Payments: fail-closed webhook. Secrets: prod boot fails without JWT_ACCESS_SECRET.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05256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Found → Fixed → Proven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9456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59975" y="457200"/>
            <a:ext cx="1828800" cy="38404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B923C"/>
                </a:solidFill>
                <a:latin typeface="Segoe UI"/>
              </a:rPr>
              <a:t>Malik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9975" y="89611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OptiCart Appliances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B15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737360"/>
          <a:ext cx="108813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  <a:gridCol w="246888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8FAFC"/>
                          </a:solidFill>
                          <a:latin typeface="Segoe UI"/>
                        </a:rPr>
                        <a:t>Found</a:t>
                      </a:r>
                    </a:p>
                  </a:txBody>
                  <a:tcPr marL="73152" marR="73152" marT="27432" marB="27432" anchor="ctr">
                    <a:solidFill>
                      <a:srgbClr val="27344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8FAFC"/>
                          </a:solidFill>
                          <a:latin typeface="Segoe UI"/>
                        </a:rPr>
                        <a:t>Fixed</a:t>
                      </a:r>
                    </a:p>
                  </a:txBody>
                  <a:tcPr marL="73152" marR="73152" marT="27432" marB="27432" anchor="ctr">
                    <a:solidFill>
                      <a:srgbClr val="27344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8FAFC"/>
                          </a:solidFill>
                          <a:latin typeface="Segoe UI"/>
                        </a:rPr>
                        <a:t>Proven</a:t>
                      </a:r>
                    </a:p>
                  </a:txBody>
                  <a:tcPr marL="73152" marR="73152" marT="27432" marB="27432" anchor="ctr">
                    <a:solidFill>
                      <a:srgbClr val="27344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Segoe UI"/>
                        </a:rPr>
                        <a:t>Webhook trusted unverified input</a:t>
                      </a:r>
                    </a:p>
                  </a:txBody>
                  <a:tcPr marL="73152" marR="73152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Segoe UI"/>
                        </a:rPr>
                        <a:t>raw body + fail-closed (400)</a:t>
                      </a:r>
                    </a:p>
                  </a:txBody>
                  <a:tcPr marL="73152" marR="73152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Segoe UI"/>
                        </a:rPr>
                        <a:t>test_fixes.ts</a:t>
                      </a:r>
                    </a:p>
                  </a:txBody>
                  <a:tcPr marL="73152" marR="73152" marT="27432" marB="27432" anchor="ctr">
                    <a:solidFill>
                      <a:srgbClr val="1E293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Segoe UI"/>
                        </a:rPr>
                        <a:t>Oversell race on stock</a:t>
                      </a:r>
                    </a:p>
                  </a:txBody>
                  <a:tcPr marL="73152" marR="73152" marT="27432" marB="27432" anchor="ctr">
                    <a:solidFill>
                      <a:srgbClr val="222E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Segoe UI"/>
                        </a:rPr>
                        <a:t>atomic guarded $inc</a:t>
                      </a:r>
                    </a:p>
                  </a:txBody>
                  <a:tcPr marL="73152" marR="73152" marT="27432" marB="27432" anchor="ctr">
                    <a:solidFill>
                      <a:srgbClr val="222E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Segoe UI"/>
                        </a:rPr>
                        <a:t>20 / 20 checks</a:t>
                      </a:r>
                    </a:p>
                  </a:txBody>
                  <a:tcPr marL="73152" marR="73152" marT="27432" marB="27432" anchor="ctr">
                    <a:solidFill>
                      <a:srgbClr val="222E4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Segoe UI"/>
                        </a:rPr>
                        <a:t>Refunds were status-only</a:t>
                      </a:r>
                    </a:p>
                  </a:txBody>
                  <a:tcPr marL="73152" marR="73152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Segoe UI"/>
                        </a:rPr>
                        <a:t>real Stripe refund + audit</a:t>
                      </a:r>
                    </a:p>
                  </a:txBody>
                  <a:tcPr marL="73152" marR="73152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Segoe UI"/>
                        </a:rPr>
                        <a:t>clean tsc builds</a:t>
                      </a:r>
                    </a:p>
                  </a:txBody>
                  <a:tcPr marL="73152" marR="73152" marT="27432" marB="27432" anchor="ctr">
                    <a:solidFill>
                      <a:srgbClr val="1E293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Segoe UI"/>
                        </a:rPr>
                        <a:t>JWT secret used a silent fallback</a:t>
                      </a:r>
                    </a:p>
                  </a:txBody>
                  <a:tcPr marL="73152" marR="73152" marT="27432" marB="27432" anchor="ctr">
                    <a:solidFill>
                      <a:srgbClr val="222E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Segoe UI"/>
                        </a:rPr>
                        <a:t>lazy read + prod fail-fast</a:t>
                      </a:r>
                    </a:p>
                  </a:txBody>
                  <a:tcPr marL="73152" marR="73152" marT="27432" marB="27432" anchor="ctr">
                    <a:solidFill>
                      <a:srgbClr val="222E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Segoe UI"/>
                        </a:rPr>
                        <a:t>HTTP smoke test</a:t>
                      </a:r>
                    </a:p>
                  </a:txBody>
                  <a:tcPr marL="73152" marR="73152" marT="27432" marB="27432" anchor="ctr">
                    <a:solidFill>
                      <a:srgbClr val="222E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05256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Scalability — What Breaks at 10×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9456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59975" y="457200"/>
            <a:ext cx="1828800" cy="38404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B923C"/>
                </a:solidFill>
                <a:latin typeface="Segoe UI"/>
              </a:rPr>
              <a:t>Malik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9975" y="89611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OptiCart Appliances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B16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768096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In-memory rate limiter splits per process → move to Redis.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In-process node-cron double-runs on 2 instances → add a leader-lock.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Orders, payments, stock, costing are already DB-atomic — they scale as-is.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Also: structured logging, CI + Docker, client code-splitting (546 kB bundle).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05256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Code Quality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9456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59975" y="457200"/>
            <a:ext cx="1828800" cy="38404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B923C"/>
                </a:solidFill>
                <a:latin typeface="Segoe UI"/>
              </a:rPr>
              <a:t>Malik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9975" y="89611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OptiCart Appliances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B17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768096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End-to-end TypeScript — client/server mismatches are compile errors.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One AppError pipeline; Zod validators separated; a reusable UI kit (DataTable, SearchBox ×7 pages).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Regression suite server/src/test_fixes.ts (20/20) + clean builds + HTTP smoke test.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Honest smells owned: server/dist tracked; some 600-line controllers; duplicated low-stock helper.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05256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400" b="1">
                <a:solidFill>
                  <a:srgbClr val="F8FAFC"/>
                </a:solidFill>
                <a:latin typeface="Segoe UI"/>
              </a:rPr>
              <a:t>Smart Energy Advisor — Feasibility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9456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59975" y="457200"/>
            <a:ext cx="1828800" cy="38404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27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94A3B8"/>
                </a:solidFill>
                <a:latin typeface="Segoe UI"/>
              </a:rPr>
              <a:t>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9975" y="89611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OptiCart Appliances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B18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768096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Schema: an optional energySpec subdoc (sibling of meta) — zero migration, existing docs simply lack it.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Filter/sort: one filter branch (maxYearlyCost) + one sort branch (tco_asc) on the existing pipeline.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Precompute estYearlyCostCents on save — same precedent as Purchase.totalCostCents.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Admin-configurable tariffs (EDL + generator) — never hardcoded; recompute nightly on change.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052560" cy="10241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F8FAFC"/>
                </a:solidFill>
                <a:latin typeface="Segoe UI"/>
              </a:rPr>
              <a:t>Git — Honest Before / After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19456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59975" y="457200"/>
            <a:ext cx="1828800" cy="384048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B923C"/>
                </a:solidFill>
                <a:latin typeface="Segoe UI"/>
              </a:rPr>
              <a:t>Malik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9975" y="89611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OptiCart Appliances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B19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768096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26 commits; exemplary messages (b9d48b3, de8c9cb) alongside a couple of low-effort ones.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A brief .env leak-and-cleanup cycle — nothing live is exposed now.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server/dist re-tracked (47 files) — the top hygiene fix on our list.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 We show this openly: owning history beats pretending it's spotless.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3400" b="1">
                <a:solidFill>
                  <a:srgbClr val="F8FAFC"/>
                </a:solidFill>
                <a:latin typeface="Segoe UI"/>
              </a:rPr>
              <a:t>Deep-dive backup ends here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700" b="0">
                <a:solidFill>
                  <a:srgbClr val="A78BFA"/>
                </a:solidFill>
                <a:latin typeface="Segoe UI"/>
              </a:rPr>
              <a:t>Ask us anything — we'll open the exact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