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600" b="1">
                <a:solidFill>
                  <a:srgbClr val="F8FAFC"/>
                </a:solidFill>
                <a:latin typeface="Segoe UI"/>
              </a:rPr>
              <a:t>OptiCart Appliances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87168"/>
            <a:ext cx="1069848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FB923C"/>
                </a:solidFill>
                <a:latin typeface="Segoe UI"/>
              </a:rPr>
              <a:t>A full-stack MERN e-commerce platform — storefront + role-scoped back 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698480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Haya  ·  Frontend  (React / Vite / TypeScript)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>
                <a:solidFill>
                  <a:srgbClr val="FB923C"/>
                </a:solidFill>
                <a:latin typeface="Segoe UI"/>
              </a:rPr>
              <a:t>Malik  ·  Backend &amp; Architecture  (Express / TypeScript)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>
                <a:solidFill>
                  <a:srgbClr val="A78BFA"/>
                </a:solidFill>
                <a:latin typeface="Segoe UI"/>
              </a:rPr>
              <a:t>Mahmod  ·  Database  (MongoDB / Mongoose)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Get the money and the stock right — every time.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The Idea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B923C"/>
                </a:solidFill>
                <a:latin typeface="Segoe UI"/>
              </a:rPr>
              <a:t>Malik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7680960" cy="4572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Buying an appliance online is a trust exercise: accurate stock, a safe checkout, promises kept after the sale.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So we built both sides of one system — a storefront to shop and a back office to run the business.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Three roles: customer, inventory manager, super admin.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North star: get the money and the stock exactly right, every single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B923C"/>
                </a:solidFill>
                <a:latin typeface="Segoe UI"/>
              </a:rPr>
              <a:t>Malik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7680960" cy="4572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Planning — requirements, data design, architecture.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Live demo — each of us presents the part we built.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What we learned — and what we'd still improve.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Future feature — the Smart Energy Advisor.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Q&amp;A — jump in any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Planning — Requirements &amp; Roles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A78BFA"/>
                </a:solidFill>
                <a:latin typeface="Segoe UI"/>
              </a:rPr>
              <a:t>Mahmod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682495"/>
            <a:ext cx="4846320" cy="1920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Segoe UI"/>
              </a:rPr>
              <a:t>Functional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Browse · search · filter · guest cart &amp; wishlist · checkout · orders · verified reviews. Admin: products, categories, orders, coupons, low-stock, procurement, users, analytics, audit.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682495"/>
            <a:ext cx="4846320" cy="1920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Segoe UI"/>
              </a:rPr>
              <a:t>Non-functional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Security (token auth + RBAC) · correctness under load (no overselling, cents money) · responsiveness (mobile) · maintainability (typed end to end).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23360"/>
            <a:ext cx="10881360" cy="17373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10424160" cy="1554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F8FAFC"/>
                </a:solidFill>
                <a:latin typeface="Segoe UI"/>
              </a:rPr>
              <a:t>Roles are supersets, enforced on the server: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FB923C"/>
                </a:solidFill>
                <a:latin typeface="Segoe UI"/>
              </a:rPr>
              <a:t>customer  ⊂  inventory_manager  ⊂  super_admin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authenticate → req.user, then authorize(...roles) gates each route (middleware/auth.ts).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Planning — Design Direction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DD4BF"/>
                </a:solidFill>
                <a:latin typeface="Segoe UI"/>
              </a:rPr>
              <a:t>Haya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7680960" cy="4572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One visual language: a Tailwind token system (colors, spacing, type) defined once, consumed everywhere.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That's why storefront and admin feel like the same product.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Core flows sketched first: product list + filters, detail + variant picker, cart → checkout.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The rule: never a frozen screen — every load has a skeleton, every action has feedback.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Planning — Database Design (ERD)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A78BFA"/>
                </a:solidFill>
                <a:latin typeface="Segoe UI"/>
              </a:rPr>
              <a:t>Mahmod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2217675"/>
            <a:ext cx="2468880" cy="658368"/>
          </a:xfrm>
          <a:prstGeom prst="roundRect">
            <a:avLst/>
          </a:prstGeom>
          <a:solidFill>
            <a:srgbClr val="2A1408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>
                <a:solidFill>
                  <a:srgbClr val="F8FAFC"/>
                </a:solidFill>
                <a:latin typeface="Segoe UI"/>
              </a:rPr>
              <a:t>USER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4869435"/>
            <a:ext cx="2468880" cy="658368"/>
          </a:xfrm>
          <a:prstGeom prst="roundRect">
            <a:avLst/>
          </a:prstGeom>
          <a:solidFill>
            <a:srgbClr val="1A122E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 dirty="0">
                <a:solidFill>
                  <a:srgbClr val="F8FAFC"/>
                </a:solidFill>
                <a:latin typeface="Segoe UI"/>
              </a:rPr>
              <a:t>PRODUCT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46275"/>
            <a:ext cx="2468880" cy="5029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>
                <a:solidFill>
                  <a:srgbClr val="F8FAFC"/>
                </a:solidFill>
                <a:latin typeface="Segoe UI"/>
              </a:rPr>
              <a:t>ORDER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108960" y="2537715"/>
            <a:ext cx="1737360" cy="155448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1714755"/>
            <a:ext cx="2468880" cy="5029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>
                <a:solidFill>
                  <a:srgbClr val="F8FAFC"/>
                </a:solidFill>
                <a:latin typeface="Segoe UI"/>
              </a:rPr>
              <a:t>CART / WISHLIST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08960" y="1961643"/>
            <a:ext cx="1737360" cy="576072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" y="3543555"/>
            <a:ext cx="2468880" cy="5029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>
                <a:solidFill>
                  <a:srgbClr val="F8FAFC"/>
                </a:solidFill>
                <a:latin typeface="Segoe UI"/>
              </a:rPr>
              <a:t>REVIEW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108960" y="2537715"/>
            <a:ext cx="1737360" cy="1252728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052560" y="2263395"/>
            <a:ext cx="2468880" cy="45720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REVIEW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315200" y="2491995"/>
            <a:ext cx="1737360" cy="269748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52560" y="2994915"/>
            <a:ext cx="2468880" cy="45720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LOWSTOCKALERT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7315200" y="3223515"/>
            <a:ext cx="1737360" cy="196596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052560" y="3726435"/>
            <a:ext cx="2468880" cy="45720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PURCHASE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7315200" y="3955035"/>
            <a:ext cx="1737360" cy="123444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52560" y="4457954"/>
            <a:ext cx="2468880" cy="45720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PRODUCTEVENT (TTL)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7315200" y="4686554"/>
            <a:ext cx="1737360" cy="502921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52560" y="5189475"/>
            <a:ext cx="2468880" cy="45720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CATEGORY</a:t>
            </a:r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7315200" y="5189475"/>
            <a:ext cx="1737360" cy="22860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80760" y="2876043"/>
            <a:ext cx="0" cy="1993392"/>
          </a:xfrm>
          <a:prstGeom prst="line">
            <a:avLst/>
          </a:prstGeom>
          <a:ln w="15875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72200" y="3680715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FB923C"/>
                </a:solidFill>
                <a:latin typeface="Segoe UI"/>
              </a:rPr>
              <a:t>orders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Embed what's owned &amp; read together (variants in Product); reference what's shared (Order → Product). Orders/Purchases store snapshots so history never changes. Money = integer cents. 14 collections.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Architecture &amp; Request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B923C"/>
                </a:solidFill>
                <a:latin typeface="Segoe UI"/>
              </a:rPr>
              <a:t>Malik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10881360" cy="1051560"/>
          </a:xfrm>
          <a:prstGeom prst="roundRect">
            <a:avLst/>
          </a:prstGeom>
          <a:solidFill>
            <a:srgbClr val="2A1408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563624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>
                <a:solidFill>
                  <a:srgbClr val="FB923C"/>
                </a:solidFill>
                <a:latin typeface="Segoe UI"/>
              </a:rPr>
              <a:t>CLIENT · React 19 SPA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892807"/>
            <a:ext cx="3017520" cy="5486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Pages + UI + Contexts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892807"/>
            <a:ext cx="3017520" cy="5486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services/api.ts (Axios+refresh)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892807"/>
            <a:ext cx="3566160" cy="5486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single-flight silent refresh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80360"/>
            <a:ext cx="10881360" cy="1234440"/>
          </a:xfrm>
          <a:prstGeom prst="roundRect">
            <a:avLst/>
          </a:prstGeom>
          <a:solidFill>
            <a:srgbClr val="072220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935224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>
                <a:solidFill>
                  <a:srgbClr val="2DD4BF"/>
                </a:solidFill>
                <a:latin typeface="Segoe UI"/>
              </a:rPr>
              <a:t>SERVER · Express + TypeScript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337560"/>
            <a:ext cx="2286000" cy="56692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middleware</a:t>
            </a:r>
          </a:p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chain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0440" y="3337560"/>
            <a:ext cx="1828800" cy="56692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16 routers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3337560"/>
            <a:ext cx="2103120" cy="56692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controllers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3337560"/>
            <a:ext cx="2743200" cy="56692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one errorHandler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526280"/>
            <a:ext cx="10881360" cy="1051560"/>
          </a:xfrm>
          <a:prstGeom prst="roundRect">
            <a:avLst/>
          </a:prstGeom>
          <a:solidFill>
            <a:srgbClr val="1A122E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581144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>
                <a:solidFill>
                  <a:srgbClr val="A78BFA"/>
                </a:solidFill>
                <a:latin typeface="Segoe UI"/>
              </a:rPr>
              <a:t>DATA &amp; EXTERNAL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910328"/>
            <a:ext cx="2377440" cy="5486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MongoDB · 14 col.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4910328"/>
            <a:ext cx="2377440" cy="5486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Stripe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910328"/>
            <a:ext cx="2377440" cy="5486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Cloudinary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0" y="4910328"/>
            <a:ext cx="2377440" cy="5486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SMTP / console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80760" y="2441448"/>
            <a:ext cx="0" cy="438912"/>
          </a:xfrm>
          <a:prstGeom prst="line">
            <a:avLst/>
          </a:prstGeom>
          <a:ln w="15875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80760" y="4114800"/>
            <a:ext cx="0" cy="411480"/>
          </a:xfrm>
          <a:prstGeom prst="line">
            <a:avLst/>
          </a:prstGeom>
          <a:ln w="15875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" y="5943600"/>
            <a:ext cx="1088136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Every request: helmet → CORS → (raw webhook body BEFORE json) → rate limit → authN/authZ → controller → one error handler. Raw-before-JSON is what makes Stripe payments tamper-proof.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Sprint Board &amp; Pre-Dev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B923C"/>
                </a:solidFill>
                <a:latin typeface="Segoe UI"/>
              </a:rPr>
              <a:t>Malik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7680960" cy="24045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 dirty="0">
                <a:solidFill>
                  <a:srgbClr val="E2E8F0"/>
                </a:solidFill>
                <a:latin typeface="Segoe UI"/>
              </a:rPr>
              <a:t>•  Planned as 11 </a:t>
            </a:r>
            <a:r>
              <a:rPr lang="en-US" sz="1700" b="0" dirty="0">
                <a:solidFill>
                  <a:srgbClr val="E2E8F0"/>
                </a:solidFill>
                <a:latin typeface="Segoe UI"/>
              </a:rPr>
              <a:t>stories</a:t>
            </a:r>
            <a:r>
              <a:rPr sz="1700" b="0" dirty="0">
                <a:solidFill>
                  <a:srgbClr val="E2E8F0"/>
                </a:solidFill>
                <a:latin typeface="Segoe UI"/>
              </a:rPr>
              <a:t> → 40 sub-tasks → 311 story points, split evenly by strength (Jira board).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 dirty="0">
                <a:solidFill>
                  <a:srgbClr val="E2E8F0"/>
                </a:solidFill>
                <a:latin typeface="Segoe UI"/>
              </a:rPr>
              <a:t>•  Big bets made up front, so we never relitigated them:</a:t>
            </a:r>
          </a:p>
          <a:p>
            <a:pPr lvl="1" algn="l">
              <a:lnSpc>
                <a:spcPct val="114000"/>
              </a:lnSpc>
              <a:spcAft>
                <a:spcPts val="800"/>
              </a:spcAft>
            </a:pPr>
            <a:r>
              <a:rPr sz="1500" b="0" dirty="0">
                <a:solidFill>
                  <a:srgbClr val="94A3B8"/>
                </a:solidFill>
                <a:latin typeface="Segoe UI"/>
              </a:rPr>
              <a:t>–  MERN + TypeScript everywhere; MongoDB document model for variant-heavy products.</a:t>
            </a:r>
          </a:p>
          <a:p>
            <a:pPr lvl="1" algn="l">
              <a:lnSpc>
                <a:spcPct val="114000"/>
              </a:lnSpc>
              <a:spcAft>
                <a:spcPts val="800"/>
              </a:spcAft>
            </a:pPr>
            <a:r>
              <a:rPr sz="1500" b="0" dirty="0">
                <a:solidFill>
                  <a:srgbClr val="94A3B8"/>
                </a:solidFill>
                <a:latin typeface="Segoe UI"/>
              </a:rPr>
              <a:t>–  Integer cents for money; two-token auth; Stripe; Tailwind token system.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 dirty="0">
                <a:solidFill>
                  <a:srgbClr val="E2E8F0"/>
                </a:solidFill>
                <a:latin typeface="Segoe UI"/>
              </a:rPr>
              <a:t>•  That's why the codebase is coherent, not stitched together.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B923C"/>
                </a:solidFill>
                <a:latin typeface="Segoe UI"/>
              </a:rPr>
              <a:t>Malik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0881360" cy="1828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One shopper's journey, end to end.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FB923C"/>
                </a:solidFill>
                <a:latin typeface="Segoe UI"/>
              </a:rPr>
              <a:t>Each of us jumps in on the part we built — Haya shops, Malik secures &amp; sells, Mahmod proves the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Demo — Frontend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DD4BF"/>
                </a:solidFill>
                <a:latin typeface="Segoe UI"/>
              </a:rPr>
              <a:t>Haya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7680960" cy="4572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Guest browsing — live category nav (by slug), URL-driven search (shareable, back-safe).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Filters update list + URL together; skeletons on every load.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Product detail — variant picker updates price, gallery, stock; add-to-cart targets the SKU.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Wishlist + cart (with toast) as a guest — cart lives in localStorage.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Start checkout → the moment I sign in, the guest cart merges. Handoff to Malik.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Demo — Auth &amp;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B923C"/>
                </a:solidFill>
                <a:latin typeface="Segoe UI"/>
              </a:rPr>
              <a:t>Malik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7680960" cy="4572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Sign in → guest cart merges onto the account.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Network tab: access token in the Authorization header — memory only, never localStorage.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On 401 the client silently refreshes (http-only cookie) and retries — rotated, with theft detection.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Hit an admin endpoint as a customer → 403. RBAC enforced on the server, not hidden in the UI.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400" b="1">
                <a:solidFill>
                  <a:srgbClr val="F8FAFC"/>
                </a:solidFill>
                <a:latin typeface="Segoe UI"/>
              </a:rPr>
              <a:t>Demo — Checkout &amp; Order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B923C"/>
                </a:solidFill>
                <a:latin typeface="Segoe UI"/>
              </a:rPr>
              <a:t>Malik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7680960" cy="4572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Apply a coupon, pay: the server re-prices the cart and re-validates the coupon from scratch.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Stock decrements only on payment success — an atomic guarded op; two buyers can't both win.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Admin queue: confirm → ship → deliver, each transition validated (no skipping).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Each step fires the customer's bell + email. Payment is machine; fulfilment stays human.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Demo — Data Integrity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A78BFA"/>
                </a:solidFill>
                <a:latin typeface="Segoe UI"/>
              </a:rPr>
              <a:t>Mahmod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7680960" cy="4572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Delivered order unlocks a verified review — unique index (one per customer/product) + transaction recompute.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Order snapshots: rename the product, the past order is unchanged.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Audit log is append-only — editing an entry is rejected by the model hook.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Information you can quietly change isn't a record — so we made it impossible to change.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400" b="1">
                <a:solidFill>
                  <a:srgbClr val="F8FAFC"/>
                </a:solidFill>
                <a:latin typeface="Segoe UI"/>
              </a:rPr>
              <a:t>Procurement &amp; Weighted-Average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A78BFA"/>
                </a:solidFill>
                <a:latin typeface="Segoe UI"/>
              </a:rPr>
              <a:t>Mahmod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7680960" cy="4572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Record a stock purchase: stock rises AND weighted-average cost blends old + new by quantity.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Both happen in a single atomic database operation — stock and cost can never disagree.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The dashboard month-spend tile moves in real time.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If the record fails after the stock update, we auto-undo it — a compensating step.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Analytics &amp; Audit Trail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B923C"/>
                </a:solidFill>
                <a:latin typeface="Segoe UI"/>
              </a:rPr>
              <a:t>Malik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7680960" cy="4572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Super admin sees revenue, order volume, top products, customer growth — and now purchase spend.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Revenue vs cost in one place — real MongoDB aggregation pipelines, not client-side math.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Under everything: an immutable audit log — who, what, before &amp; after — deliberately indexed.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What We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27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94A3B8"/>
                </a:solidFill>
                <a:latin typeface="Segoe UI"/>
              </a:rPr>
              <a:t>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3566160" cy="3566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773936"/>
            <a:ext cx="3200400" cy="3291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dirty="0">
                <a:solidFill>
                  <a:srgbClr val="F8FAFC"/>
                </a:solidFill>
                <a:latin typeface="Segoe UI"/>
              </a:rPr>
              <a:t>Haya — Single-flight refresh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dirty="0">
                <a:solidFill>
                  <a:srgbClr val="94A3B8"/>
                </a:solidFill>
                <a:latin typeface="Segoe UI"/>
              </a:rPr>
              <a:t>N concurrent 401s trigger ONE refresh, not N. The fix wasn't more state — it was one point of coordination. And why a token belongs in memory, not storage.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3566160" cy="3566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773936"/>
            <a:ext cx="3200400" cy="3291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Segoe UI"/>
              </a:rPr>
              <a:t>Malik — Compensating transactions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When an operation spans two documents, make the second step reversible and undo the first on failure — instead of heavy machinery. It made our costing feature safe.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74720" cy="3566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1773936"/>
            <a:ext cx="3108960" cy="3291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Segoe UI"/>
              </a:rPr>
              <a:t>Mahmod — Partial indexes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A unique constraint on a filtered subset turned a real bug into an elegant rule: one active low-stock alert per variant, unlimited history — enforced by the database.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Still Challenging (honest)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27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94A3B8"/>
                </a:solidFill>
                <a:latin typeface="Segoe UI"/>
              </a:rPr>
              <a:t>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7680960" cy="4572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Haya — automated frontend testing: we have a backend suite; UI component tests are next.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Malik — designing for horizontal scale: Redis + a cron leader-lock, not yet run multi-instance.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Mahmod — a formal data-migration workflow for evolving live data safely.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None of these block the product — they're the edges we're growing into.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400" b="1">
                <a:solidFill>
                  <a:srgbClr val="F8FAFC"/>
                </a:solidFill>
                <a:latin typeface="Segoe UI"/>
              </a:rPr>
              <a:t>Evaluation Criteria — How We Meet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B923C"/>
                </a:solidFill>
                <a:latin typeface="Segoe UI"/>
              </a:rPr>
              <a:t>Malik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18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88136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Segoe UI"/>
                        </a:rPr>
                        <a:t>Criterion</a:t>
                      </a:r>
                    </a:p>
                  </a:txBody>
                  <a:tcPr marL="73152" marR="73152" marT="27432" marB="27432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Segoe UI"/>
                        </a:rPr>
                        <a:t>Evidence (file)</a:t>
                      </a:r>
                    </a:p>
                  </a:txBody>
                  <a:tcPr marL="73152" marR="73152" marT="27432" marB="27432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Segoe UI"/>
                        </a:rPr>
                        <a:t>Who</a:t>
                      </a:r>
                    </a:p>
                  </a:txBody>
                  <a:tcPr marL="73152" marR="73152" marT="27432" marB="27432" anchor="ctr">
                    <a:solidFill>
                      <a:srgbClr val="2734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Backend architecture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middleware chain; two-phase pay→confirm (order.ts)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Malik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Security</a:t>
                      </a:r>
                    </a:p>
                  </a:txBody>
                  <a:tcPr marL="73152" marR="73152" marT="27432" marB="27432" anchor="ctr">
                    <a:solidFill>
                      <a:srgbClr val="22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rotation+reuse (auth.ts); fail-closed webhook; test_fixes 20/20</a:t>
                      </a:r>
                    </a:p>
                  </a:txBody>
                  <a:tcPr marL="73152" marR="73152" marT="27432" marB="27432" anchor="ctr">
                    <a:solidFill>
                      <a:srgbClr val="22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Malik</a:t>
                      </a:r>
                    </a:p>
                  </a:txBody>
                  <a:tcPr marL="73152" marR="73152" marT="27432" marB="27432" anchor="ctr">
                    <a:solidFill>
                      <a:srgbClr val="222E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Database design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snapshots; partial + unique indexes; append-only audit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Mahmod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UI/UX &amp; responsiveness</a:t>
                      </a:r>
                    </a:p>
                  </a:txBody>
                  <a:tcPr marL="73152" marR="73152" marT="27432" marB="27432" anchor="ctr">
                    <a:solidFill>
                      <a:srgbClr val="22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token system; live nav; mobile drawer (StorefrontLayout)</a:t>
                      </a:r>
                    </a:p>
                  </a:txBody>
                  <a:tcPr marL="73152" marR="73152" marT="27432" marB="27432" anchor="ctr">
                    <a:solidFill>
                      <a:srgbClr val="22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Haya</a:t>
                      </a:r>
                    </a:p>
                  </a:txBody>
                  <a:tcPr marL="73152" marR="73152" marT="27432" marB="27432" anchor="ctr">
                    <a:solidFill>
                      <a:srgbClr val="222E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Functionality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26 verified features — merge, checkout, procurement, analytics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All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Code quality</a:t>
                      </a:r>
                    </a:p>
                  </a:txBody>
                  <a:tcPr marL="73152" marR="73152" marT="27432" marB="27432" anchor="ctr">
                    <a:solidFill>
                      <a:srgbClr val="22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one error pipeline; typed schemas; regression suite</a:t>
                      </a:r>
                    </a:p>
                  </a:txBody>
                  <a:tcPr marL="73152" marR="73152" marT="27432" marB="27432" anchor="ctr">
                    <a:solidFill>
                      <a:srgbClr val="22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Malik/Haya</a:t>
                      </a:r>
                    </a:p>
                  </a:txBody>
                  <a:tcPr marL="73152" marR="73152" marT="27432" marB="27432" anchor="ctr">
                    <a:solidFill>
                      <a:srgbClr val="222E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400" b="1">
                <a:solidFill>
                  <a:srgbClr val="F8FAFC"/>
                </a:solidFill>
                <a:latin typeface="Segoe UI"/>
              </a:rPr>
              <a:t>Security — Found → Fixed → Proven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B923C"/>
                </a:solidFill>
                <a:latin typeface="Segoe UI"/>
              </a:rPr>
              <a:t>Malik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19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737360"/>
          <a:ext cx="108813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8FAFC"/>
                          </a:solidFill>
                          <a:latin typeface="Segoe UI"/>
                        </a:rPr>
                        <a:t>Found</a:t>
                      </a:r>
                    </a:p>
                  </a:txBody>
                  <a:tcPr marL="73152" marR="73152" marT="27432" marB="27432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8FAFC"/>
                          </a:solidFill>
                          <a:latin typeface="Segoe UI"/>
                        </a:rPr>
                        <a:t>Fixed</a:t>
                      </a:r>
                    </a:p>
                  </a:txBody>
                  <a:tcPr marL="73152" marR="73152" marT="27432" marB="27432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8FAFC"/>
                          </a:solidFill>
                          <a:latin typeface="Segoe UI"/>
                        </a:rPr>
                        <a:t>Proven</a:t>
                      </a:r>
                    </a:p>
                  </a:txBody>
                  <a:tcPr marL="73152" marR="73152" marT="27432" marB="27432" anchor="ctr">
                    <a:solidFill>
                      <a:srgbClr val="2734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Segoe UI"/>
                        </a:rPr>
                        <a:t>Webhook trusted unverified input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Segoe UI"/>
                        </a:rPr>
                        <a:t>raw body + fail-closed (400)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Segoe UI"/>
                        </a:rPr>
                        <a:t>test_fixes.ts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Segoe UI"/>
                        </a:rPr>
                        <a:t>Oversell race on stock</a:t>
                      </a:r>
                    </a:p>
                  </a:txBody>
                  <a:tcPr marL="73152" marR="73152" marT="27432" marB="27432" anchor="ctr">
                    <a:solidFill>
                      <a:srgbClr val="22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Segoe UI"/>
                        </a:rPr>
                        <a:t>atomic guarded $inc</a:t>
                      </a:r>
                    </a:p>
                  </a:txBody>
                  <a:tcPr marL="73152" marR="73152" marT="27432" marB="27432" anchor="ctr">
                    <a:solidFill>
                      <a:srgbClr val="22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Segoe UI"/>
                        </a:rPr>
                        <a:t>20 / 20 checks</a:t>
                      </a:r>
                    </a:p>
                  </a:txBody>
                  <a:tcPr marL="73152" marR="73152" marT="27432" marB="27432" anchor="ctr">
                    <a:solidFill>
                      <a:srgbClr val="222E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Segoe UI"/>
                        </a:rPr>
                        <a:t>Refunds were status-only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Segoe UI"/>
                        </a:rPr>
                        <a:t>real Stripe refund + audit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Segoe UI"/>
                        </a:rPr>
                        <a:t>clean tsc builds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Segoe UI"/>
                        </a:rPr>
                        <a:t>JWT secret used a silent fallback</a:t>
                      </a:r>
                    </a:p>
                  </a:txBody>
                  <a:tcPr marL="73152" marR="73152" marT="27432" marB="27432" anchor="ctr">
                    <a:solidFill>
                      <a:srgbClr val="22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Segoe UI"/>
                        </a:rPr>
                        <a:t>lazy read + prod fail-fast</a:t>
                      </a:r>
                    </a:p>
                  </a:txBody>
                  <a:tcPr marL="73152" marR="73152" marT="27432" marB="27432" anchor="ctr">
                    <a:solidFill>
                      <a:srgbClr val="22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Segoe UI"/>
                        </a:rPr>
                        <a:t>HTTP smoke test</a:t>
                      </a:r>
                    </a:p>
                  </a:txBody>
                  <a:tcPr marL="73152" marR="73152" marT="27432" marB="27432" anchor="ctr">
                    <a:solidFill>
                      <a:srgbClr val="222E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Honesty — Open Items &amp;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B923C"/>
                </a:solidFill>
                <a:latin typeface="Segoe UI"/>
              </a:rPr>
              <a:t>Malik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7680960" cy="4572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Rate limiting + scheduler assume a single instance → Redis store + cron leader-lock.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Dev-format logging; no CI/Docker yet; client bundle could be code-split.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None is a happy-path correctness bug — they're scaling &amp; hygiene items, each with a clear fix.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We'd rather raise them ourselves than have you find them.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Future — Smart Energy Advisor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27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94A3B8"/>
                </a:solidFill>
                <a:latin typeface="Segoe UI"/>
              </a:rPr>
              <a:t>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7680960" cy="2377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Two $899 fridges look identical — but one can cost double to run.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Store each appliance's energy use; show its real yearly running cost under Lebanese conditions.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EDL grid tariff + private generator rate — and sort the whole catalog by total cost of ownership.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1088136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B923C"/>
                </a:solidFill>
                <a:latin typeface="Segoe UI"/>
              </a:rPr>
              <a:t>yearlyCost = kWh/yr × (gridShare×EDL + genShare×generator)     5-yr TCO = price + 5 × yearlyCost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892040"/>
            <a:ext cx="10881360" cy="960120"/>
          </a:xfrm>
          <a:prstGeom prst="roundRect">
            <a:avLst/>
          </a:prstGeom>
          <a:solidFill>
            <a:srgbClr val="2A1408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>
                <a:solidFill>
                  <a:srgbClr val="F8FAFC"/>
                </a:solidFill>
                <a:latin typeface="Segoe UI"/>
              </a:rPr>
              <a:t>"This fridge costs $120/year to run — this one $55."  In Lebanon, that's the sentence that closes the sale.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600" b="1">
                <a:solidFill>
                  <a:srgbClr val="F8FAFC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FB923C"/>
                </a:solidFill>
                <a:latin typeface="Segoe UI"/>
              </a:rPr>
              <a:t>Questions? We know exactly where everything lives — name it and we'll open the file.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69848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>
                <a:solidFill>
                  <a:srgbClr val="2DD4BF"/>
                </a:solidFill>
                <a:latin typeface="Segoe UI"/>
              </a:rPr>
              <a:t>Haya · Frontend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>
                <a:solidFill>
                  <a:srgbClr val="FB923C"/>
                </a:solidFill>
                <a:latin typeface="Segoe UI"/>
              </a:rPr>
              <a:t>Malik · Backend &amp; Architecture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>
                <a:solidFill>
                  <a:srgbClr val="A78BFA"/>
                </a:solidFill>
                <a:latin typeface="Segoe UI"/>
              </a:rPr>
              <a:t>Mahmod · Database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1512</TotalTime>
  <Words>1717</Words>
  <Application>Microsoft Office PowerPoint</Application>
  <PresentationFormat>Widescreen</PresentationFormat>
  <Paragraphs>225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Malik Halimeh</cp:lastModifiedBy>
  <cp:revision>4</cp:revision>
  <dcterms:created xsi:type="dcterms:W3CDTF">2013-01-27T09:14:16Z</dcterms:created>
  <dcterms:modified xsi:type="dcterms:W3CDTF">2026-07-14T12:52:30Z</dcterms:modified>
  <cp:category/>
</cp:coreProperties>
</file>